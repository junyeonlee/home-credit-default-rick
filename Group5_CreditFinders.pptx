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embeddedFontLst>
    <p:embeddedFont>
      <p:font typeface="Franklin Gothic"/>
      <p:bold r:id="rId14"/>
    </p:embeddedFont>
    <p:embeddedFont>
      <p:font typeface="Lobster" panose="00000500000000000000" pitchFamily="2" charset="0"/>
      <p:regular r:id="rId15"/>
    </p:embeddedFont>
    <p:embeddedFont>
      <p:font typeface="Palatino Linotype" panose="02040502050505030304" pitchFamily="18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2" roundtripDataSignature="AMtx7mgDQhiyHK+61bFumZSaIbM1EnLp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" name="Google Shape;10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05" name="Google Shape;105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106" name="Google Shape;106;p1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6" name="Google Shape;11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516e8613c4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3" name="Google Shape;123;g3516e8613c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4e085415e8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0" name="Google Shape;130;g34e085415e8_0_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g34e085415e8_0_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4e339e6a12_1_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9" name="Google Shape;139;g34e339e6a12_1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5" name="Google Shape;145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1" name="Google Shape;151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516e8613c4_2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516e8613c4_2_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g3516e8613c4_2_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7" name="Google Shape;167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51a270af97_0_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g351a270af97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4f096a47b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9" name="Google Shape;179;g34f096a47b2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0" name="Google Shape;180;g34f096a47b2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page">
  <p:cSld name="3_Title page">
    <p:bg>
      <p:bgPr>
        <a:solidFill>
          <a:srgbClr val="262626"/>
        </a:solid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670538" y="3690944"/>
            <a:ext cx="10312295" cy="1485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5333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707592" y="3260726"/>
            <a:ext cx="10312296" cy="336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800"/>
              <a:buNone/>
              <a:defRPr sz="2400" b="0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4" name="Google Shape;24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51685" y="-47867"/>
            <a:ext cx="4059936" cy="1522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25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39993" y="538188"/>
            <a:ext cx="3266113" cy="1360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photo: white">
  <p:cSld name="Content and photo: white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/>
          <p:nvPr/>
        </p:nvSpPr>
        <p:spPr>
          <a:xfrm>
            <a:off x="-69516" y="-21389"/>
            <a:ext cx="12331032" cy="836701"/>
          </a:xfrm>
          <a:prstGeom prst="rect">
            <a:avLst/>
          </a:prstGeom>
          <a:solidFill>
            <a:srgbClr val="690304"/>
          </a:solidFill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1452702" y="1283975"/>
            <a:ext cx="5326692" cy="1039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4041"/>
              </a:buClr>
              <a:buSzPts val="3000"/>
              <a:buFont typeface="Arial"/>
              <a:buNone/>
              <a:defRPr sz="4000" b="1" i="0">
                <a:solidFill>
                  <a:srgbClr val="40404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body" idx="1"/>
          </p:nvPr>
        </p:nvSpPr>
        <p:spPr>
          <a:xfrm>
            <a:off x="1454485" y="2675466"/>
            <a:ext cx="5326692" cy="3355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1"/>
              </a:buClr>
              <a:buSzPts val="1800"/>
              <a:buFont typeface="Arial"/>
              <a:buChar char="•"/>
              <a:defRPr sz="2400">
                <a:solidFill>
                  <a:srgbClr val="40404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404041"/>
              </a:buClr>
              <a:buSzPts val="1800"/>
              <a:buFont typeface="Arial"/>
              <a:buChar char="•"/>
              <a:defRPr sz="2400">
                <a:solidFill>
                  <a:srgbClr val="40404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404041"/>
              </a:buClr>
              <a:buSzPts val="1800"/>
              <a:buFont typeface="Arial"/>
              <a:buChar char="•"/>
              <a:defRPr sz="2400">
                <a:solidFill>
                  <a:srgbClr val="40404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404041"/>
              </a:buClr>
              <a:buSzPts val="1800"/>
              <a:buFont typeface="Arial"/>
              <a:buChar char="•"/>
              <a:defRPr sz="2400">
                <a:solidFill>
                  <a:srgbClr val="40404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404041"/>
              </a:buClr>
              <a:buSzPts val="1800"/>
              <a:buFont typeface="Arial"/>
              <a:buChar char="•"/>
              <a:defRPr sz="2400">
                <a:solidFill>
                  <a:srgbClr val="40404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6"/>
          <p:cNvSpPr>
            <a:spLocks noGrp="1"/>
          </p:cNvSpPr>
          <p:nvPr>
            <p:ph type="pic" idx="2"/>
          </p:nvPr>
        </p:nvSpPr>
        <p:spPr>
          <a:xfrm>
            <a:off x="7419880" y="1283975"/>
            <a:ext cx="4386227" cy="4759365"/>
          </a:xfrm>
          <a:prstGeom prst="rect">
            <a:avLst/>
          </a:prstGeom>
          <a:noFill/>
          <a:ln>
            <a:noFill/>
          </a:ln>
        </p:spPr>
      </p:sp>
      <p:pic>
        <p:nvPicPr>
          <p:cNvPr id="31" name="Google Shape;31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39993" y="538188"/>
            <a:ext cx="3266113" cy="136088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8210" y="-596391"/>
            <a:ext cx="876505" cy="1768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1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1" name="Google Shape;61;p1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1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3" name="Google Shape;63;p1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4" name="Google Shape;64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9" name="Google Shape;79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0" name="Google Shape;80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6" name="Google Shape;8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7" name="Google Shape;8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p4" descr=" "/>
          <p:cNvSpPr txBox="1"/>
          <p:nvPr/>
        </p:nvSpPr>
        <p:spPr>
          <a:xfrm>
            <a:off x="0" y="0"/>
            <a:ext cx="12192000" cy="223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lang="en-US" sz="8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4" descr=" "/>
          <p:cNvSpPr txBox="1"/>
          <p:nvPr/>
        </p:nvSpPr>
        <p:spPr>
          <a:xfrm>
            <a:off x="0" y="0"/>
            <a:ext cx="12192000" cy="223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lang="en-US" sz="8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4" descr=" "/>
          <p:cNvSpPr txBox="1"/>
          <p:nvPr/>
        </p:nvSpPr>
        <p:spPr>
          <a:xfrm>
            <a:off x="0" y="0"/>
            <a:ext cx="12192000" cy="223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lang="en-US" sz="8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4" descr=" "/>
          <p:cNvSpPr txBox="1"/>
          <p:nvPr/>
        </p:nvSpPr>
        <p:spPr>
          <a:xfrm>
            <a:off x="0" y="6537960"/>
            <a:ext cx="12192000" cy="223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lang="en-US" sz="8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4" descr=" "/>
          <p:cNvSpPr txBox="1"/>
          <p:nvPr/>
        </p:nvSpPr>
        <p:spPr>
          <a:xfrm>
            <a:off x="0" y="6537960"/>
            <a:ext cx="12192000" cy="223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lang="en-US" sz="8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4" descr=" "/>
          <p:cNvSpPr txBox="1"/>
          <p:nvPr/>
        </p:nvSpPr>
        <p:spPr>
          <a:xfrm>
            <a:off x="0" y="6537960"/>
            <a:ext cx="12192000" cy="223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lang="en-US" sz="8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"/>
          <p:cNvSpPr txBox="1">
            <a:spLocks noGrp="1"/>
          </p:cNvSpPr>
          <p:nvPr>
            <p:ph type="title"/>
          </p:nvPr>
        </p:nvSpPr>
        <p:spPr>
          <a:xfrm>
            <a:off x="515891" y="2686004"/>
            <a:ext cx="11521463" cy="1485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 sz="4000"/>
              <a:t>High Credit Default Risk (HCDR)</a:t>
            </a:r>
            <a:endParaRPr sz="4000"/>
          </a:p>
        </p:txBody>
      </p:sp>
      <p:sp>
        <p:nvSpPr>
          <p:cNvPr id="109" name="Google Shape;109;p1"/>
          <p:cNvSpPr txBox="1">
            <a:spLocks noGrp="1"/>
          </p:cNvSpPr>
          <p:nvPr>
            <p:ph type="body" idx="1"/>
          </p:nvPr>
        </p:nvSpPr>
        <p:spPr>
          <a:xfrm>
            <a:off x="3220826" y="2404525"/>
            <a:ext cx="5426100" cy="3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800"/>
              <a:buNone/>
            </a:pPr>
            <a:r>
              <a:rPr lang="en-US"/>
              <a:t>SP25 Applied Machine Learning</a:t>
            </a:r>
            <a:endParaRPr/>
          </a:p>
        </p:txBody>
      </p:sp>
      <p:sp>
        <p:nvSpPr>
          <p:cNvPr id="110" name="Google Shape;110;p1"/>
          <p:cNvSpPr/>
          <p:nvPr/>
        </p:nvSpPr>
        <p:spPr>
          <a:xfrm>
            <a:off x="7761817" y="4605260"/>
            <a:ext cx="4561200" cy="110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111" name="Google Shape;111;p1"/>
          <p:cNvSpPr/>
          <p:nvPr/>
        </p:nvSpPr>
        <p:spPr>
          <a:xfrm>
            <a:off x="2820026" y="4022625"/>
            <a:ext cx="7122000" cy="492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Project </a:t>
            </a:r>
            <a:r>
              <a:rPr lang="en-US" sz="2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Group 5</a:t>
            </a:r>
            <a:endParaRPr sz="24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"/>
          <p:cNvSpPr txBox="1"/>
          <p:nvPr/>
        </p:nvSpPr>
        <p:spPr>
          <a:xfrm>
            <a:off x="8929511" y="240453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endParaRPr sz="1067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"/>
          <p:cNvSpPr txBox="1"/>
          <p:nvPr/>
        </p:nvSpPr>
        <p:spPr>
          <a:xfrm>
            <a:off x="8236750" y="4246800"/>
            <a:ext cx="3321300" cy="243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457200" marR="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ranklin Gothic"/>
              <a:buChar char="➢"/>
            </a:pPr>
            <a:r>
              <a:rPr lang="en-US" sz="1900" b="0" i="0" u="none" strike="noStrike" cap="none">
                <a:solidFill>
                  <a:schemeClr val="lt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Junyeon Lee</a:t>
            </a:r>
            <a:endParaRPr sz="19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ranklin Gothic"/>
              <a:buChar char="➢"/>
            </a:pPr>
            <a:r>
              <a:rPr lang="en-US" sz="1900" b="0" i="0" u="none" strike="noStrike" cap="none">
                <a:solidFill>
                  <a:schemeClr val="lt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Priyanka Prem Kumar</a:t>
            </a:r>
            <a:endParaRPr sz="19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ranklin Gothic"/>
              <a:buChar char="➢"/>
            </a:pPr>
            <a:r>
              <a:rPr lang="en-US" sz="1900" b="0" i="0" u="none" strike="noStrike" cap="none">
                <a:solidFill>
                  <a:schemeClr val="lt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Simi Rajeev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ranklin Gothic"/>
              <a:buChar char="➢"/>
            </a:pPr>
            <a:r>
              <a:rPr lang="en-US" sz="1900" b="0" i="0" u="none" strike="noStrike" cap="none">
                <a:solidFill>
                  <a:schemeClr val="lt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Sumedh Ambapkar</a:t>
            </a:r>
            <a:endParaRPr sz="19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b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"/>
          <p:cNvSpPr txBox="1">
            <a:spLocks noGrp="1"/>
          </p:cNvSpPr>
          <p:nvPr>
            <p:ph type="title"/>
          </p:nvPr>
        </p:nvSpPr>
        <p:spPr>
          <a:xfrm>
            <a:off x="886075" y="1168450"/>
            <a:ext cx="4223400" cy="4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2400"/>
              <a:t>Team Credit Finders</a:t>
            </a:r>
            <a:endParaRPr sz="2400"/>
          </a:p>
        </p:txBody>
      </p:sp>
      <p:sp>
        <p:nvSpPr>
          <p:cNvPr id="119" name="Google Shape;119;p3"/>
          <p:cNvSpPr txBox="1"/>
          <p:nvPr/>
        </p:nvSpPr>
        <p:spPr>
          <a:xfrm>
            <a:off x="886075" y="2002375"/>
            <a:ext cx="4836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i="0" u="none" strike="noStrike" cap="none">
              <a:solidFill>
                <a:schemeClr val="dk1"/>
              </a:solidFill>
            </a:endParaRPr>
          </a:p>
        </p:txBody>
      </p:sp>
      <p:pic>
        <p:nvPicPr>
          <p:cNvPr id="120" name="Google Shape;120;p3" title="Group_Pictur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7350" y="1943250"/>
            <a:ext cx="7976673" cy="4481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16e8613c4_0_0"/>
          <p:cNvSpPr txBox="1">
            <a:spLocks noGrp="1"/>
          </p:cNvSpPr>
          <p:nvPr>
            <p:ph type="title"/>
          </p:nvPr>
        </p:nvSpPr>
        <p:spPr>
          <a:xfrm>
            <a:off x="886075" y="1168450"/>
            <a:ext cx="4223400" cy="4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2400">
                <a:solidFill>
                  <a:schemeClr val="dk1"/>
                </a:solidFill>
              </a:rPr>
              <a:t>Project Description</a:t>
            </a:r>
            <a:endParaRPr sz="2400"/>
          </a:p>
        </p:txBody>
      </p:sp>
      <p:pic>
        <p:nvPicPr>
          <p:cNvPr id="126" name="Google Shape;126;g3516e8613c4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8425" y="2058025"/>
            <a:ext cx="8573801" cy="1654725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g3516e8613c4_0_0"/>
          <p:cNvSpPr txBox="1"/>
          <p:nvPr/>
        </p:nvSpPr>
        <p:spPr>
          <a:xfrm>
            <a:off x="886075" y="3820475"/>
            <a:ext cx="10126200" cy="26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424242"/>
                </a:solidFill>
                <a:highlight>
                  <a:srgbClr val="FAFAFA"/>
                </a:highlight>
              </a:rPr>
              <a:t>Home Credit</a:t>
            </a:r>
            <a:r>
              <a:rPr lang="en-US" sz="1500">
                <a:solidFill>
                  <a:srgbClr val="424242"/>
                </a:solidFill>
                <a:highlight>
                  <a:srgbClr val="FAFAFA"/>
                </a:highlight>
              </a:rPr>
              <a:t> strives to broaden financial inclusion for the </a:t>
            </a:r>
            <a:r>
              <a:rPr lang="en-US" sz="1500" b="1">
                <a:solidFill>
                  <a:srgbClr val="424242"/>
                </a:solidFill>
                <a:highlight>
                  <a:srgbClr val="FAFAFA"/>
                </a:highlight>
              </a:rPr>
              <a:t>unbanked population</a:t>
            </a:r>
            <a:r>
              <a:rPr lang="en-US" sz="1500">
                <a:solidFill>
                  <a:srgbClr val="424242"/>
                </a:solidFill>
                <a:highlight>
                  <a:srgbClr val="FAFAFA"/>
                </a:highlight>
              </a:rPr>
              <a:t> by providing a positive and safe borrowing experience. To ensure this underserved population has a positive loan experience, Home Credit utilizes a variety of alternative data—including telco and transactional information—to </a:t>
            </a:r>
            <a:r>
              <a:rPr lang="en-US" sz="1500" b="1">
                <a:solidFill>
                  <a:srgbClr val="424242"/>
                </a:solidFill>
                <a:highlight>
                  <a:srgbClr val="FAFAFA"/>
                </a:highlight>
              </a:rPr>
              <a:t>predict clients</a:t>
            </a:r>
            <a:r>
              <a:rPr lang="en-US" sz="1500">
                <a:solidFill>
                  <a:srgbClr val="424242"/>
                </a:solidFill>
                <a:highlight>
                  <a:srgbClr val="FAFAFA"/>
                </a:highlight>
              </a:rPr>
              <a:t>' repayment abilities using various </a:t>
            </a:r>
            <a:r>
              <a:rPr lang="en-US" sz="1500" b="1">
                <a:solidFill>
                  <a:srgbClr val="424242"/>
                </a:solidFill>
                <a:highlight>
                  <a:srgbClr val="FAFAFA"/>
                </a:highlight>
              </a:rPr>
              <a:t>statistical, machine learning and deep learning</a:t>
            </a:r>
            <a:r>
              <a:rPr lang="en-US" sz="1500">
                <a:solidFill>
                  <a:srgbClr val="424242"/>
                </a:solidFill>
                <a:highlight>
                  <a:srgbClr val="FAFAFA"/>
                </a:highlight>
              </a:rPr>
              <a:t> methods.</a:t>
            </a:r>
            <a:endParaRPr sz="1500">
              <a:solidFill>
                <a:srgbClr val="424242"/>
              </a:solidFill>
              <a:highlight>
                <a:srgbClr val="FAFAFA"/>
              </a:highlight>
            </a:endParaRPr>
          </a:p>
          <a:p>
            <a:pPr marL="457200" lvl="0" indent="-32385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307,511 records on training data with Target Feature and 6 of second tier and third tier datasets having a primary key to join on the primary table.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Datasets: application_{train|test}, bureau, bureau_balance, POS_CASH_balance, credit_card_balance, previous_application, installments_payments, HomeCredit_columns_description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4e085415e8_0_7"/>
          <p:cNvSpPr txBox="1"/>
          <p:nvPr/>
        </p:nvSpPr>
        <p:spPr>
          <a:xfrm>
            <a:off x="1233950" y="1832750"/>
            <a:ext cx="10698600" cy="48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17500" algn="l" rtl="0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Detected skewed and imbalanced data, so we decided to apply a log scale to handle this situation</a:t>
            </a: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17500" algn="l" rtl="0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Detected highly inter-correlated features, indicating a potential need for dimensionality reduction or regularization.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Detected the target data is skewed and imbalanced, so we decided to balance it to improve model performance.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34" name="Google Shape;134;g34e085415e8_0_7"/>
          <p:cNvSpPr txBox="1">
            <a:spLocks noGrp="1"/>
          </p:cNvSpPr>
          <p:nvPr>
            <p:ph type="title"/>
          </p:nvPr>
        </p:nvSpPr>
        <p:spPr>
          <a:xfrm>
            <a:off x="1233950" y="808125"/>
            <a:ext cx="10058100" cy="4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2400">
                <a:solidFill>
                  <a:schemeClr val="dk1"/>
                </a:solidFill>
              </a:rPr>
              <a:t>EDA</a:t>
            </a:r>
            <a:endParaRPr sz="2400"/>
          </a:p>
        </p:txBody>
      </p:sp>
      <p:pic>
        <p:nvPicPr>
          <p:cNvPr id="135" name="Google Shape;135;g34e085415e8_0_7"/>
          <p:cNvPicPr preferRelativeResize="0"/>
          <p:nvPr/>
        </p:nvPicPr>
        <p:blipFill rotWithShape="1">
          <a:blip r:embed="rId3">
            <a:alphaModFix/>
          </a:blip>
          <a:srcRect l="-2092" t="32759"/>
          <a:stretch/>
        </p:blipFill>
        <p:spPr>
          <a:xfrm>
            <a:off x="6428225" y="3647100"/>
            <a:ext cx="5252601" cy="220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g34e085415e8_0_7"/>
          <p:cNvPicPr preferRelativeResize="0"/>
          <p:nvPr/>
        </p:nvPicPr>
        <p:blipFill rotWithShape="1">
          <a:blip r:embed="rId4">
            <a:alphaModFix/>
          </a:blip>
          <a:srcRect l="4896" t="30600" r="45590" b="9031"/>
          <a:stretch/>
        </p:blipFill>
        <p:spPr>
          <a:xfrm>
            <a:off x="1386370" y="3647100"/>
            <a:ext cx="4838375" cy="220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4e339e6a12_1_7"/>
          <p:cNvSpPr txBox="1">
            <a:spLocks noGrp="1"/>
          </p:cNvSpPr>
          <p:nvPr>
            <p:ph type="title"/>
          </p:nvPr>
        </p:nvSpPr>
        <p:spPr>
          <a:xfrm>
            <a:off x="1233950" y="808125"/>
            <a:ext cx="10058100" cy="4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2400">
                <a:solidFill>
                  <a:schemeClr val="dk1"/>
                </a:solidFill>
              </a:rPr>
              <a:t>Feature Engineering, Transformation, Selection and Pre-processing</a:t>
            </a:r>
            <a:endParaRPr sz="2400"/>
          </a:p>
        </p:txBody>
      </p:sp>
      <p:sp>
        <p:nvSpPr>
          <p:cNvPr id="142" name="Google Shape;142;g34e339e6a12_1_7"/>
          <p:cNvSpPr txBox="1"/>
          <p:nvPr/>
        </p:nvSpPr>
        <p:spPr>
          <a:xfrm>
            <a:off x="1233950" y="1409825"/>
            <a:ext cx="10698600" cy="53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Feature Engineering</a:t>
            </a: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04800" algn="l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Identified numerical and categorical attributes (</a:t>
            </a:r>
            <a:r>
              <a:rPr lang="en-US" sz="1200" b="0" i="0" u="none" strike="noStrike" cap="none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num_attribs</a:t>
            </a: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200" b="0" i="0" u="none" strike="noStrike" cap="none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cat_attribs</a:t>
            </a: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b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Combined selected features for downstream pipeline processing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Feature Transformation</a:t>
            </a: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04800" algn="l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en-US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Numerical Pipeline</a:t>
            </a:r>
            <a:br>
              <a:rPr lang="en-US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048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Selected numeric features using </a:t>
            </a:r>
            <a:r>
              <a:rPr lang="en-US" sz="1200" b="0" i="0" u="none" strike="noStrike" cap="none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DataFrameSelector,  </a:t>
            </a: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Imputed missing values using </a:t>
            </a:r>
            <a:r>
              <a:rPr lang="en-US" sz="1200" b="0" i="0" u="none" strike="noStrike" cap="none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SimpleImputer(strategy='mean'),  </a:t>
            </a: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Scaled values with </a:t>
            </a:r>
            <a:r>
              <a:rPr lang="en-US" sz="1200" b="0" i="0" u="none" strike="noStrike" cap="none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StandardScaler</a:t>
            </a: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 normalization</a:t>
            </a:r>
            <a:b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en-US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Categorical Pipeline</a:t>
            </a:r>
            <a:br>
              <a:rPr lang="en-US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Selected categorical features using </a:t>
            </a:r>
            <a:r>
              <a:rPr lang="en-US" sz="1200" b="0" i="0" u="none" strike="noStrike" cap="none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DataFrameSelector,  </a:t>
            </a: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Imputed missing values using </a:t>
            </a:r>
            <a:r>
              <a:rPr lang="en-US" sz="1200" b="0" i="0" u="none" strike="noStrike" cap="none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SimpleImputer(strategy='most_frequent'),  </a:t>
            </a: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Applied </a:t>
            </a:r>
            <a:r>
              <a:rPr lang="en-US" sz="1200" b="0" i="0" u="none" strike="noStrike" cap="none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OneHotEncoder</a:t>
            </a: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with </a:t>
            </a:r>
            <a:r>
              <a:rPr lang="en-US" sz="1200" b="0" i="0" u="none" strike="noStrike" cap="none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handle_unknown="ignore"</a:t>
            </a: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handle unseen categories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Feature Selection</a:t>
            </a: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04800" algn="l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Combined pipelines using </a:t>
            </a:r>
            <a:r>
              <a:rPr lang="en-US" sz="1200" b="0" i="0" u="none" strike="noStrike" cap="none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FeatureUnion</a:t>
            </a:r>
            <a:br>
              <a:rPr lang="en-US" sz="1200" b="0" i="0" u="none" strike="noStrike" cap="none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 b="0" i="0" u="none" strike="noStrike" cap="none">
              <a:solidFill>
                <a:srgbClr val="18803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Final selected features: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Total: </a:t>
            </a:r>
            <a:r>
              <a:rPr lang="en-US" sz="1200" b="0" i="0" u="none" strike="noStrike" cap="none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{len(selected_features)},</a:t>
            </a: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➤ Numeric: </a:t>
            </a:r>
            <a:r>
              <a:rPr lang="en-US" sz="1200" b="0" i="0" u="none" strike="noStrike" cap="none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{len(num_attribs)},</a:t>
            </a: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➤ Categorical: </a:t>
            </a:r>
            <a:r>
              <a:rPr lang="en-US" sz="1200" b="0" i="0" u="none" strike="noStrike" cap="none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{len(cat_attribs)}</a:t>
            </a:r>
            <a:endParaRPr sz="1200" b="0" i="0" u="none" strike="noStrike" cap="none">
              <a:solidFill>
                <a:srgbClr val="18803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Feature Pre-processing</a:t>
            </a: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04800" algn="l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Modular and reusable pipelines using Scikit-learn's </a:t>
            </a:r>
            <a:r>
              <a:rPr lang="en-US" sz="1200" b="0" i="0" u="none" strike="noStrike" cap="none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Pipeline</a:t>
            </a: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-US" sz="1200" b="0" i="0" u="none" strike="noStrike" cap="none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FeatureUnion</a:t>
            </a:r>
            <a:br>
              <a:rPr lang="en-US" sz="1200" b="0" i="0" u="none" strike="noStrike" cap="none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 b="0" i="0" u="none" strike="noStrike" cap="none">
              <a:solidFill>
                <a:srgbClr val="18803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Ensures consistent data preparation for training, validation, and testing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18803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1D3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2"/>
          <p:cNvSpPr txBox="1">
            <a:spLocks noGrp="1"/>
          </p:cNvSpPr>
          <p:nvPr>
            <p:ph type="title"/>
          </p:nvPr>
        </p:nvSpPr>
        <p:spPr>
          <a:xfrm>
            <a:off x="1233950" y="946075"/>
            <a:ext cx="7187674" cy="4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2400">
                <a:solidFill>
                  <a:schemeClr val="dk1"/>
                </a:solidFill>
              </a:rPr>
              <a:t>Modeling Pipeline</a:t>
            </a:r>
            <a:endParaRPr sz="2400"/>
          </a:p>
        </p:txBody>
      </p:sp>
      <p:sp>
        <p:nvSpPr>
          <p:cNvPr id="148" name="Google Shape;148;p22"/>
          <p:cNvSpPr txBox="1"/>
          <p:nvPr/>
        </p:nvSpPr>
        <p:spPr>
          <a:xfrm>
            <a:off x="1233950" y="1665375"/>
            <a:ext cx="10475400" cy="50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1">
                <a:solidFill>
                  <a:schemeClr val="dk1"/>
                </a:solidFill>
              </a:rPr>
              <a:t>Experimental Setup:</a:t>
            </a:r>
            <a:r>
              <a:rPr lang="en-US" sz="1200">
                <a:solidFill>
                  <a:schemeClr val="dk1"/>
                </a:solidFill>
              </a:rPr>
              <a:t> Feature selection (RFE, PCA, Variance Threshold, SelectKBest) applied on 132 features to maximize ROC AUC.</a:t>
            </a: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1">
                <a:solidFill>
                  <a:schemeClr val="dk1"/>
                </a:solidFill>
              </a:rPr>
              <a:t>Top Model:</a:t>
            </a:r>
            <a:r>
              <a:rPr lang="en-US" sz="1200">
                <a:solidFill>
                  <a:schemeClr val="dk1"/>
                </a:solidFill>
              </a:rPr>
              <a:t> XGBoost + SelectKBest achieved highest Test ROC AUC of 74.7%.</a:t>
            </a: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1">
                <a:solidFill>
                  <a:schemeClr val="dk1"/>
                </a:solidFill>
              </a:rPr>
              <a:t>Logistic Regression:</a:t>
            </a:r>
            <a:r>
              <a:rPr lang="en-US" sz="1200">
                <a:solidFill>
                  <a:schemeClr val="dk1"/>
                </a:solidFill>
              </a:rPr>
              <a:t> Variance Threshold method; Test ROC AUC 75.22%; strong baseline, very close to XGBoost.</a:t>
            </a: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1">
                <a:solidFill>
                  <a:schemeClr val="dk1"/>
                </a:solidFill>
              </a:rPr>
              <a:t>Deep Learning Models:</a:t>
            </a:r>
            <a:r>
              <a:rPr lang="en-US" sz="1200">
                <a:solidFill>
                  <a:schemeClr val="dk1"/>
                </a:solidFill>
              </a:rPr>
              <a:t> Simple Network ROC AUC 74.6%, Multilayer Network ROC AUC 59.38%; simple model performed better.</a:t>
            </a: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1">
                <a:solidFill>
                  <a:schemeClr val="dk1"/>
                </a:solidFill>
              </a:rPr>
              <a:t>Model Comparison:</a:t>
            </a:r>
            <a:endParaRPr sz="1200" b="1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XGBoost (SelectKBest): 74.7% ROC AUC (Best)</a:t>
            </a:r>
            <a:br>
              <a:rPr lang="en-US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Logistic Regression (Variance Threshold): 75.22% ROC AUC (Strong baseline)</a:t>
            </a:r>
            <a:br>
              <a:rPr lang="en-US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Random Forest (Variance Threshold): 72.43% ROC AUC (Decent but behind XGBoost)</a:t>
            </a:r>
            <a:br>
              <a:rPr lang="en-US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LightGBM (RFE/Variance Threshold): 72.2% ROC AUC (Fast but slightly lower)</a:t>
            </a:r>
            <a:br>
              <a:rPr lang="en-US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Gradient Boosting: 72.12% ROC AUC (Lower than baseline)</a:t>
            </a:r>
            <a:br>
              <a:rPr lang="en-US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SVM: 67.21% ROC AUC (Lowest, dropped early)</a:t>
            </a:r>
            <a:br>
              <a:rPr lang="en-US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1">
                <a:solidFill>
                  <a:schemeClr val="dk1"/>
                </a:solidFill>
              </a:rPr>
              <a:t>Key Takeaways:</a:t>
            </a:r>
            <a:r>
              <a:rPr lang="en-US" sz="1200">
                <a:solidFill>
                  <a:schemeClr val="dk1"/>
                </a:solidFill>
              </a:rPr>
              <a:t> XGBoost best overall; Simple Neural Network competitive but tree-based models superior; Logistic Regression remained a strong fallback.</a:t>
            </a:r>
            <a:endParaRPr sz="12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5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500" b="0" i="0" u="none" strike="noStrike" cap="none">
              <a:solidFill>
                <a:srgbClr val="001D3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3"/>
          <p:cNvSpPr txBox="1">
            <a:spLocks noGrp="1"/>
          </p:cNvSpPr>
          <p:nvPr>
            <p:ph type="title"/>
          </p:nvPr>
        </p:nvSpPr>
        <p:spPr>
          <a:xfrm>
            <a:off x="1233950" y="946075"/>
            <a:ext cx="8186100" cy="4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2400"/>
              <a:t>Experimental Results for ML -Ensemble of Models</a:t>
            </a:r>
            <a:endParaRPr sz="2400"/>
          </a:p>
        </p:txBody>
      </p:sp>
      <p:sp>
        <p:nvSpPr>
          <p:cNvPr id="154" name="Google Shape;154;p23"/>
          <p:cNvSpPr txBox="1"/>
          <p:nvPr/>
        </p:nvSpPr>
        <p:spPr>
          <a:xfrm>
            <a:off x="1233950" y="1665375"/>
            <a:ext cx="10475450" cy="5048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1D3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5" name="Google Shape;155;p23" title="Screenshot 2025-04-28 at 8.25.33 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875" y="1584900"/>
            <a:ext cx="12103127" cy="4380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516e8613c4_2_3"/>
          <p:cNvSpPr txBox="1">
            <a:spLocks noGrp="1"/>
          </p:cNvSpPr>
          <p:nvPr>
            <p:ph type="title"/>
          </p:nvPr>
        </p:nvSpPr>
        <p:spPr>
          <a:xfrm>
            <a:off x="1295048" y="751875"/>
            <a:ext cx="9893400" cy="1039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Experimental Results for Deep Learning </a:t>
            </a:r>
            <a:endParaRPr sz="2400"/>
          </a:p>
        </p:txBody>
      </p:sp>
      <p:sp>
        <p:nvSpPr>
          <p:cNvPr id="162" name="Google Shape;162;g3516e8613c4_2_3"/>
          <p:cNvSpPr txBox="1">
            <a:spLocks noGrp="1"/>
          </p:cNvSpPr>
          <p:nvPr>
            <p:ph type="body" idx="1"/>
          </p:nvPr>
        </p:nvSpPr>
        <p:spPr>
          <a:xfrm>
            <a:off x="187600" y="1659975"/>
            <a:ext cx="11686800" cy="4291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47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/>
              <a:t>Simple Neural Networks </a:t>
            </a:r>
            <a:endParaRPr sz="27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/>
          </a:p>
          <a:p>
            <a:pPr marL="457200" lvl="0" indent="-28236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endParaRPr sz="1782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82"/>
          </a:p>
          <a:p>
            <a:pPr marL="457200" lvl="0" indent="-304006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2500"/>
              <a:t>Deep Learning Models Simple Network Testing Accuracy: 93.08% ROC AUC Score: 74.61%</a:t>
            </a:r>
            <a:endParaRPr sz="2500"/>
          </a:p>
          <a:p>
            <a:pPr marL="457200" lvl="0" indent="-304006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2500"/>
              <a:t>Outperformed multilayer deep learning, closely competing with XGBoost and Logistic Regression.</a:t>
            </a:r>
            <a:endParaRPr sz="2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82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/>
              <a:t>Multilayer Neural Networks</a:t>
            </a:r>
            <a:endParaRPr sz="27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82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82"/>
          </a:p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22"/>
          </a:p>
          <a:p>
            <a:pPr marL="457200" marR="0" lvl="0" indent="-304006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2500"/>
              <a:t>Multilayer Network Testing Accuracy: 91.20% ROC AUC Score: 59.38% </a:t>
            </a:r>
            <a:endParaRPr sz="2500"/>
          </a:p>
          <a:p>
            <a:pPr marL="457200" marR="0" lvl="0" indent="-304006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2500"/>
              <a:t>Significant drop in ROC, suggesting overfitting or network complexity issues.</a:t>
            </a:r>
            <a:endParaRPr sz="2500"/>
          </a:p>
        </p:txBody>
      </p:sp>
      <p:pic>
        <p:nvPicPr>
          <p:cNvPr id="163" name="Google Shape;163;g3516e8613c4_2_3" title="Screenshot 2025-04-28 at 6.02.14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5700" y="2064125"/>
            <a:ext cx="9716428" cy="979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g3516e8613c4_2_3" title="Screenshot 2025-04-28 at 6.03.21 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5700" y="4185850"/>
            <a:ext cx="9530638" cy="97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4"/>
          <p:cNvSpPr txBox="1">
            <a:spLocks noGrp="1"/>
          </p:cNvSpPr>
          <p:nvPr>
            <p:ph type="title"/>
          </p:nvPr>
        </p:nvSpPr>
        <p:spPr>
          <a:xfrm>
            <a:off x="1233950" y="946075"/>
            <a:ext cx="7187674" cy="4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2400">
                <a:solidFill>
                  <a:schemeClr val="dk1"/>
                </a:solidFill>
              </a:rPr>
              <a:t>Conclusion</a:t>
            </a:r>
            <a:endParaRPr sz="2400"/>
          </a:p>
        </p:txBody>
      </p:sp>
      <p:sp>
        <p:nvSpPr>
          <p:cNvPr id="170" name="Google Shape;170;p24"/>
          <p:cNvSpPr txBox="1"/>
          <p:nvPr/>
        </p:nvSpPr>
        <p:spPr>
          <a:xfrm>
            <a:off x="1233950" y="1665375"/>
            <a:ext cx="10475400" cy="50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23850" algn="l" rtl="0">
              <a:lnSpc>
                <a:spcPct val="2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  <a:highlight>
                  <a:srgbClr val="FAFAFA"/>
                </a:highlight>
              </a:rPr>
              <a:t>XGBoost achieved the best overall balance between accuracy and ROC AUC, making it the top-performing model. It delivered a Training Accuracy of 94.91%, Testing Accuracy of 92.36%, and ROC AUC of 74.70%.</a:t>
            </a:r>
            <a:endParaRPr sz="1500" b="1">
              <a:solidFill>
                <a:schemeClr val="dk1"/>
              </a:solidFill>
              <a:highlight>
                <a:srgbClr val="FAFAFA"/>
              </a:highlight>
            </a:endParaRPr>
          </a:p>
          <a:p>
            <a:pPr marL="457200" lvl="0" indent="-323850" algn="l" rtl="0">
              <a:lnSpc>
                <a:spcPct val="2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  <a:highlight>
                  <a:srgbClr val="FAFAFA"/>
                </a:highlight>
              </a:rPr>
              <a:t>Logistic Regression slightly exceeded in ROC AUC (75.22%) but lacked the advanced learning capacity of XGBoost.</a:t>
            </a:r>
            <a:endParaRPr sz="1500" b="1">
              <a:solidFill>
                <a:schemeClr val="dk1"/>
              </a:solidFill>
              <a:highlight>
                <a:srgbClr val="FAFAFA"/>
              </a:highlight>
            </a:endParaRPr>
          </a:p>
          <a:p>
            <a:pPr marL="457200" lvl="0" indent="-323850" algn="l" rtl="0">
              <a:lnSpc>
                <a:spcPct val="2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  <a:highlight>
                  <a:srgbClr val="FAFAFA"/>
                </a:highlight>
              </a:rPr>
              <a:t>Deep Learning (Simple Model) closely followed with a ROC AUC of 74.61%, offering faster training but lower robustness.</a:t>
            </a:r>
            <a:endParaRPr sz="1500" b="1">
              <a:solidFill>
                <a:schemeClr val="dk1"/>
              </a:solidFill>
              <a:highlight>
                <a:srgbClr val="FAFAFA"/>
              </a:highlight>
            </a:endParaRPr>
          </a:p>
          <a:p>
            <a:pPr marL="457200" lvl="0" indent="-323850" algn="l" rtl="0">
              <a:lnSpc>
                <a:spcPct val="2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  <a:highlight>
                  <a:srgbClr val="FAFAFA"/>
                </a:highlight>
              </a:rPr>
              <a:t>XGBoost handled the high-dimensional, imbalanced dataset effectively.</a:t>
            </a:r>
            <a:endParaRPr sz="1500" b="1">
              <a:solidFill>
                <a:schemeClr val="dk1"/>
              </a:solidFill>
              <a:highlight>
                <a:srgbClr val="FAFAFA"/>
              </a:highlight>
            </a:endParaRPr>
          </a:p>
          <a:p>
            <a:pPr marL="457200" lvl="0" indent="-323850" algn="l" rtl="0">
              <a:lnSpc>
                <a:spcPct val="23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  <a:highlight>
                  <a:srgbClr val="FAFAFA"/>
                </a:highlight>
              </a:rPr>
              <a:t>XGBoost with feature selection is recommended for optimal performance.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51a270af97_0_4"/>
          <p:cNvSpPr txBox="1">
            <a:spLocks noGrp="1"/>
          </p:cNvSpPr>
          <p:nvPr>
            <p:ph type="title"/>
          </p:nvPr>
        </p:nvSpPr>
        <p:spPr>
          <a:xfrm>
            <a:off x="1125550" y="818000"/>
            <a:ext cx="7187700" cy="4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2400">
                <a:solidFill>
                  <a:schemeClr val="dk1"/>
                </a:solidFill>
              </a:rPr>
              <a:t>Future Work</a:t>
            </a:r>
            <a:endParaRPr sz="2400"/>
          </a:p>
        </p:txBody>
      </p:sp>
      <p:sp>
        <p:nvSpPr>
          <p:cNvPr id="176" name="Google Shape;176;g351a270af97_0_4"/>
          <p:cNvSpPr txBox="1"/>
          <p:nvPr/>
        </p:nvSpPr>
        <p:spPr>
          <a:xfrm>
            <a:off x="1184675" y="1409250"/>
            <a:ext cx="10491600" cy="53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SzPts val="605"/>
              <a:buNone/>
            </a:pPr>
            <a:r>
              <a:rPr lang="en-US" sz="1200" b="1">
                <a:solidFill>
                  <a:schemeClr val="dk1"/>
                </a:solidFill>
              </a:rPr>
              <a:t>Model Enhancements:</a:t>
            </a:r>
            <a:br>
              <a:rPr lang="en-US" sz="1200" b="1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Apply </a:t>
            </a:r>
            <a:r>
              <a:rPr lang="en-US" sz="1200" b="1">
                <a:solidFill>
                  <a:schemeClr val="dk1"/>
                </a:solidFill>
              </a:rPr>
              <a:t>advanced deep learning architectures</a:t>
            </a:r>
            <a:r>
              <a:rPr lang="en-US" sz="1200">
                <a:solidFill>
                  <a:schemeClr val="dk1"/>
                </a:solidFill>
              </a:rPr>
              <a:t> like TabNet or autoencoders for feature extraction.</a:t>
            </a:r>
            <a:br>
              <a:rPr lang="en-US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SzPts val="605"/>
              <a:buNone/>
            </a:pPr>
            <a:r>
              <a:rPr lang="en-US" sz="1200" b="1">
                <a:solidFill>
                  <a:schemeClr val="dk1"/>
                </a:solidFill>
              </a:rPr>
              <a:t>Feature Engineering:</a:t>
            </a:r>
            <a:endParaRPr sz="1200" b="1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-US" sz="1200">
                <a:solidFill>
                  <a:schemeClr val="dk1"/>
                </a:solidFill>
              </a:rPr>
              <a:t>Explore SHAP or Boruta for </a:t>
            </a:r>
            <a:r>
              <a:rPr lang="en-US" sz="1200" b="1">
                <a:solidFill>
                  <a:schemeClr val="dk1"/>
                </a:solidFill>
              </a:rPr>
              <a:t>automated feature selection</a:t>
            </a:r>
            <a:r>
              <a:rPr lang="en-US" sz="1200">
                <a:solidFill>
                  <a:schemeClr val="dk1"/>
                </a:solidFill>
              </a:rPr>
              <a:t>; add </a:t>
            </a:r>
            <a:r>
              <a:rPr lang="en-US" sz="1200" b="1">
                <a:solidFill>
                  <a:schemeClr val="dk1"/>
                </a:solidFill>
              </a:rPr>
              <a:t>time-based or interaction features</a:t>
            </a:r>
            <a:r>
              <a:rPr lang="en-US" sz="1200">
                <a:solidFill>
                  <a:schemeClr val="dk1"/>
                </a:solidFill>
              </a:rPr>
              <a:t> to boost predictive power.</a:t>
            </a:r>
            <a:br>
              <a:rPr lang="en-US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SzPts val="605"/>
              <a:buNone/>
            </a:pPr>
            <a:r>
              <a:rPr lang="en-US" sz="1200" b="1">
                <a:solidFill>
                  <a:schemeClr val="dk1"/>
                </a:solidFill>
              </a:rPr>
              <a:t>Dimensionality Reduction:</a:t>
            </a:r>
            <a:br>
              <a:rPr lang="en-US" sz="1200" b="1">
                <a:solidFill>
                  <a:schemeClr val="dk1"/>
                </a:solidFill>
              </a:rPr>
            </a:br>
            <a:endParaRPr sz="1200" b="1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-US" sz="1200">
                <a:solidFill>
                  <a:schemeClr val="dk1"/>
                </a:solidFill>
              </a:rPr>
              <a:t>Implement </a:t>
            </a:r>
            <a:r>
              <a:rPr lang="en-US" sz="1200" b="1">
                <a:solidFill>
                  <a:schemeClr val="dk1"/>
                </a:solidFill>
              </a:rPr>
              <a:t>PCA or t-SNE</a:t>
            </a:r>
            <a:r>
              <a:rPr lang="en-US" sz="1200">
                <a:solidFill>
                  <a:schemeClr val="dk1"/>
                </a:solidFill>
              </a:rPr>
              <a:t> for reducing multicollinearity and visualizing high-dimensional data.</a:t>
            </a:r>
            <a:br>
              <a:rPr lang="en-US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SzPts val="605"/>
              <a:buNone/>
            </a:pPr>
            <a:r>
              <a:rPr lang="en-US" sz="1200" b="1">
                <a:solidFill>
                  <a:schemeClr val="dk1"/>
                </a:solidFill>
              </a:rPr>
              <a:t>Hyperparameter Optimization:</a:t>
            </a:r>
            <a:br>
              <a:rPr lang="en-US" sz="1200" b="1">
                <a:solidFill>
                  <a:schemeClr val="dk1"/>
                </a:solidFill>
              </a:rPr>
            </a:br>
            <a:endParaRPr sz="1200" b="1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-US" sz="1200">
                <a:solidFill>
                  <a:schemeClr val="dk1"/>
                </a:solidFill>
              </a:rPr>
              <a:t>Use </a:t>
            </a:r>
            <a:r>
              <a:rPr lang="en-US" sz="1200" b="1">
                <a:solidFill>
                  <a:schemeClr val="dk1"/>
                </a:solidFill>
              </a:rPr>
              <a:t>Bayesian Optimization</a:t>
            </a:r>
            <a:r>
              <a:rPr lang="en-US" sz="1200">
                <a:solidFill>
                  <a:schemeClr val="dk1"/>
                </a:solidFill>
              </a:rPr>
              <a:t> (e.g., Optuna or Hyperopt) for more efficient tuning.</a:t>
            </a:r>
            <a:br>
              <a:rPr lang="en-US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SzPts val="605"/>
              <a:buNone/>
            </a:pPr>
            <a:r>
              <a:rPr lang="en-US" sz="1200" b="1">
                <a:solidFill>
                  <a:schemeClr val="dk1"/>
                </a:solidFill>
              </a:rPr>
              <a:t>Model Interpretability:</a:t>
            </a:r>
            <a:br>
              <a:rPr lang="en-US" sz="1200" b="1">
                <a:solidFill>
                  <a:schemeClr val="dk1"/>
                </a:solidFill>
              </a:rPr>
            </a:br>
            <a:endParaRPr sz="1200" b="1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-US" sz="1200">
                <a:solidFill>
                  <a:schemeClr val="dk1"/>
                </a:solidFill>
              </a:rPr>
              <a:t>Leverage </a:t>
            </a:r>
            <a:r>
              <a:rPr lang="en-US" sz="1200" b="1">
                <a:solidFill>
                  <a:schemeClr val="dk1"/>
                </a:solidFill>
              </a:rPr>
              <a:t>SHAP values</a:t>
            </a:r>
            <a:r>
              <a:rPr lang="en-US" sz="1200">
                <a:solidFill>
                  <a:schemeClr val="dk1"/>
                </a:solidFill>
              </a:rPr>
              <a:t> to explain predictions and support business decisions.</a:t>
            </a:r>
            <a:br>
              <a:rPr lang="en-US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SzPts val="605"/>
              <a:buNone/>
            </a:pPr>
            <a:r>
              <a:rPr lang="en-US" sz="1200" b="1">
                <a:solidFill>
                  <a:schemeClr val="dk1"/>
                </a:solidFill>
              </a:rPr>
              <a:t>Production Readiness:</a:t>
            </a:r>
            <a:br>
              <a:rPr lang="en-US" sz="1200" b="1">
                <a:solidFill>
                  <a:schemeClr val="dk1"/>
                </a:solidFill>
              </a:rPr>
            </a:br>
            <a:endParaRPr sz="1200" b="1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-US" sz="1200">
                <a:solidFill>
                  <a:schemeClr val="dk1"/>
                </a:solidFill>
              </a:rPr>
              <a:t>Build an </a:t>
            </a:r>
            <a:r>
              <a:rPr lang="en-US" sz="1200" b="1">
                <a:solidFill>
                  <a:schemeClr val="dk1"/>
                </a:solidFill>
              </a:rPr>
              <a:t>end-to-end pipeline</a:t>
            </a:r>
            <a:r>
              <a:rPr lang="en-US" sz="1200">
                <a:solidFill>
                  <a:schemeClr val="dk1"/>
                </a:solidFill>
              </a:rPr>
              <a:t> for real-time prediction using tools like </a:t>
            </a:r>
            <a:r>
              <a:rPr lang="en-US" sz="1200" b="1">
                <a:solidFill>
                  <a:schemeClr val="dk1"/>
                </a:solidFill>
              </a:rPr>
              <a:t>MLflow</a:t>
            </a:r>
            <a:r>
              <a:rPr lang="en-US" sz="1200">
                <a:solidFill>
                  <a:schemeClr val="dk1"/>
                </a:solidFill>
              </a:rPr>
              <a:t> or </a:t>
            </a:r>
            <a:r>
              <a:rPr lang="en-US" sz="1200" b="1">
                <a:solidFill>
                  <a:schemeClr val="dk1"/>
                </a:solidFill>
              </a:rPr>
              <a:t>FastAPI</a:t>
            </a:r>
            <a:r>
              <a:rPr lang="en-US" sz="1200">
                <a:solidFill>
                  <a:schemeClr val="dk1"/>
                </a:solidFill>
              </a:rPr>
              <a:t>.</a:t>
            </a:r>
            <a:br>
              <a:rPr lang="en-US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-US" sz="1200">
                <a:solidFill>
                  <a:schemeClr val="dk1"/>
                </a:solidFill>
              </a:rPr>
              <a:t>Deploy the model in a </a:t>
            </a:r>
            <a:r>
              <a:rPr lang="en-US" sz="1200" b="1">
                <a:solidFill>
                  <a:schemeClr val="dk1"/>
                </a:solidFill>
              </a:rPr>
              <a:t>cloud environment</a:t>
            </a:r>
            <a:r>
              <a:rPr lang="en-US" sz="1200">
                <a:solidFill>
                  <a:schemeClr val="dk1"/>
                </a:solidFill>
              </a:rPr>
              <a:t> for scalability (e.g., AWS SageMaker, GCP AI Platform).</a:t>
            </a:r>
            <a:br>
              <a:rPr lang="en-US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SzPts val="605"/>
              <a:buNone/>
            </a:pPr>
            <a:r>
              <a:rPr lang="en-US" sz="1200" b="1">
                <a:solidFill>
                  <a:schemeClr val="dk1"/>
                </a:solidFill>
              </a:rPr>
              <a:t>Data Augmentation &amp; Enrichment:</a:t>
            </a:r>
            <a:br>
              <a:rPr lang="en-US" sz="1200" b="1">
                <a:solidFill>
                  <a:schemeClr val="dk1"/>
                </a:solidFill>
              </a:rPr>
            </a:br>
            <a:endParaRPr sz="1200" b="1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-US" sz="1200">
                <a:solidFill>
                  <a:schemeClr val="dk1"/>
                </a:solidFill>
              </a:rPr>
              <a:t>Explore external data sources (e.g., credit bureau data, macroeconomic indicators).</a:t>
            </a:r>
            <a:br>
              <a:rPr lang="en-US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6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-US" sz="1200">
                <a:solidFill>
                  <a:schemeClr val="dk1"/>
                </a:solidFill>
              </a:rPr>
              <a:t>Use </a:t>
            </a:r>
            <a:r>
              <a:rPr lang="en-US" sz="1200" b="1">
                <a:solidFill>
                  <a:schemeClr val="dk1"/>
                </a:solidFill>
              </a:rPr>
              <a:t>SMOTE</a:t>
            </a:r>
            <a:r>
              <a:rPr lang="en-US" sz="1200">
                <a:solidFill>
                  <a:schemeClr val="dk1"/>
                </a:solidFill>
              </a:rPr>
              <a:t> or other oversampling methods to improve class balance.</a:t>
            </a:r>
            <a:endParaRPr sz="1200">
              <a:solidFill>
                <a:schemeClr val="dk1"/>
              </a:solidFill>
              <a:highlight>
                <a:srgbClr val="FAFAFA"/>
              </a:highlight>
            </a:endParaRPr>
          </a:p>
        </p:txBody>
      </p:sp>
    </p:spTree>
  </p:cSld>
  <p:clrMapOvr>
    <a:masterClrMapping/>
  </p:clrMapOvr>
  <p:transition spd="slow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4f096a47b2_0_0"/>
          <p:cNvSpPr txBox="1">
            <a:spLocks noGrp="1"/>
          </p:cNvSpPr>
          <p:nvPr>
            <p:ph type="body" idx="1"/>
          </p:nvPr>
        </p:nvSpPr>
        <p:spPr>
          <a:xfrm>
            <a:off x="2399168" y="2379867"/>
            <a:ext cx="6790099" cy="2789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2700" dirty="0">
                <a:latin typeface="Lobster"/>
                <a:ea typeface="Lobster"/>
                <a:cs typeface="Lobster"/>
                <a:sym typeface="Lobster"/>
              </a:rPr>
              <a:t>Thank you </a:t>
            </a:r>
            <a:endParaRPr sz="12700" dirty="0">
              <a:latin typeface="Lobster"/>
              <a:ea typeface="Lobster"/>
              <a:cs typeface="Lobster"/>
              <a:sym typeface="Lobs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916</Words>
  <Application>Microsoft Office PowerPoint</Application>
  <PresentationFormat>Widescreen</PresentationFormat>
  <Paragraphs>107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Palatino Linotype</vt:lpstr>
      <vt:lpstr>arial</vt:lpstr>
      <vt:lpstr>Lobster</vt:lpstr>
      <vt:lpstr>Calibri</vt:lpstr>
      <vt:lpstr>Franklin Gothic</vt:lpstr>
      <vt:lpstr>Office Theme</vt:lpstr>
      <vt:lpstr>High Credit Default Risk (HCDR)</vt:lpstr>
      <vt:lpstr>Team Credit Finders</vt:lpstr>
      <vt:lpstr>Project Description</vt:lpstr>
      <vt:lpstr>EDA</vt:lpstr>
      <vt:lpstr>Feature Engineering, Transformation, Selection and Pre-processing</vt:lpstr>
      <vt:lpstr>Modeling Pipeline</vt:lpstr>
      <vt:lpstr>Experimental Results for ML -Ensemble of Models</vt:lpstr>
      <vt:lpstr>Experimental Results for Deep Learning </vt:lpstr>
      <vt:lpstr>Conclusion</vt:lpstr>
      <vt:lpstr>Future Work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Archana Krishnamurthy (TMNA)</dc:creator>
  <cp:lastModifiedBy>Lee, Junyeon</cp:lastModifiedBy>
  <cp:revision>1</cp:revision>
  <dcterms:created xsi:type="dcterms:W3CDTF">2020-05-09T02:20:53Z</dcterms:created>
  <dcterms:modified xsi:type="dcterms:W3CDTF">2026-02-12T03:03:07Z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1b518dda-a072-40f6-b897-604cd2a063c5</vt:lpwstr>
  </property>
  <property fmtid="{D5CDD505-2E9C-101B-9397-08002B2CF9AE}" pid="3" name="ToyotaClassification">
    <vt:lpwstr>PUBLIC</vt:lpwstr>
  </property>
  <property fmtid="{D5CDD505-2E9C-101B-9397-08002B2CF9AE}" pid="4" name="ToyotaVisualMarkings">
    <vt:lpwstr>No Label</vt:lpwstr>
  </property>
</Properties>
</file>